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EF4FC"/>
                </a:solidFill>
                <a:latin typeface="Aptos"/>
              </a:rPr>
              <a:t>SyncLock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3736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DD4BF"/>
                </a:solidFill>
                <a:latin typeface="Aptos"/>
              </a:rPr>
              <a:t>Concurrent File Access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0B2CC"/>
                </a:solidFill>
                <a:latin typeface="Aptos"/>
              </a:rPr>
              <a:t>Hackathon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971800"/>
            <a:ext cx="6400800" cy="141732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310128"/>
            <a:ext cx="5897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EF4FC"/>
                </a:solidFill>
                <a:latin typeface="Aptos"/>
              </a:rPr>
              <a:t>Safe shared-file access using OS-level locks,
version control, atomic writes and activity logging.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0B2CC"/>
                </a:solidFill>
                <a:latin typeface="Aptos"/>
              </a:rPr>
              <a:t>P.Likith Kumar  •  P.Rithwik Rao  •  V.Santhosh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0B2CC"/>
                </a:solidFill>
                <a:latin typeface="Aptos"/>
              </a:rPr>
              <a:t>Operating Systems / System Programming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713232"/>
            <a:ext cx="155448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20" y="75895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SYSTEM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What SyncLock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72800" cy="434340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241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B82F6"/>
                </a:solidFill>
                <a:latin typeface="Aptos"/>
              </a:defRPr>
            </a:pPr>
            <a:r>
              <a:t>The challenge</a:t>
            </a:r>
          </a:p>
          <a:p>
            <a:pPr>
              <a:spcAft>
                <a:spcPts val="600"/>
              </a:spcAft>
              <a:defRPr sz="1600" b="0">
                <a:solidFill>
                  <a:srgbClr val="EEF4FC"/>
                </a:solidFill>
                <a:latin typeface="Aptos"/>
              </a:defRPr>
            </a:pPr>
            <a:r>
              <a:t>When multiple processes or users access the same file at the same time, unsynchronized writes can overwrite changes or leave inconsistent data.</a:t>
            </a:r>
          </a:p>
          <a:p>
            <a:pPr>
              <a:spcAft>
                <a:spcPts val="600"/>
              </a:spcAft>
              <a:defRPr sz="1600" b="1">
                <a:solidFill>
                  <a:srgbClr val="22C55E"/>
                </a:solidFill>
                <a:latin typeface="Aptos"/>
              </a:defRPr>
            </a:pPr>
            <a:r>
              <a:t>Our solution</a:t>
            </a:r>
          </a:p>
          <a:p>
            <a:pPr>
              <a:spcAft>
                <a:spcPts val="600"/>
              </a:spcAft>
              <a:defRPr sz="1600" b="0">
                <a:solidFill>
                  <a:srgbClr val="EEF4FC"/>
                </a:solidFill>
                <a:latin typeface="Aptos"/>
              </a:defRPr>
            </a:pPr>
            <a:r>
              <a:t>SyncLock provides controlled shared-file access through shared read locks, exclusive write locks, optimistic version checking and atomic file replacement.</a:t>
            </a:r>
          </a:p>
          <a:p>
            <a:pPr>
              <a:spcAft>
                <a:spcPts val="600"/>
              </a:spcAft>
              <a:defRPr sz="1600" b="1">
                <a:solidFill>
                  <a:srgbClr val="2DD4BF"/>
                </a:solidFill>
                <a:latin typeface="Aptos"/>
              </a:defRPr>
            </a:pPr>
            <a:r>
              <a:t>Monitoring</a:t>
            </a:r>
          </a:p>
          <a:p>
            <a:pPr>
              <a:spcAft>
                <a:spcPts val="600"/>
              </a:spcAft>
              <a:defRPr sz="1600" b="0">
                <a:solidFill>
                  <a:srgbClr val="EEF4FC"/>
                </a:solidFill>
                <a:latin typeface="Aptos"/>
              </a:defRPr>
            </a:pPr>
            <a:r>
              <a:t>A FastAPI web dashboard displays shared files, versions, operations, blocked conflicts and successful writes, while SQLite stores metadata and activity logs.</a:t>
            </a:r>
          </a:p>
          <a:p>
            <a:pPr>
              <a:spcAft>
                <a:spcPts val="600"/>
              </a:spcAft>
              <a:defRPr sz="1600" b="1">
                <a:solidFill>
                  <a:srgbClr val="FACC15"/>
                </a:solidFill>
                <a:latin typeface="Aptos"/>
              </a:defRPr>
            </a:pPr>
            <a:r>
              <a:t>Demonstration</a:t>
            </a:r>
          </a:p>
          <a:p>
            <a:pPr>
              <a:spcAft>
                <a:spcPts val="600"/>
              </a:spcAft>
              <a:defRPr sz="1600" b="0">
                <a:solidFill>
                  <a:srgbClr val="EEF4FC"/>
                </a:solidFill>
                <a:latin typeface="Aptos"/>
              </a:defRPr>
            </a:pPr>
            <a:r>
              <a:t>A five-process simulator creates real contention for one shared file so judges can see safe serialization and conflict handling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Why concurrent file access needs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074920" cy="150876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Lost updates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Two writers can overwrite each other's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074920" cy="150876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01368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Race 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58568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The final file may depend on unpredictable timing.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5074920" cy="150876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75887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Inconsistent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33087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Partial or conflicting updates reduce reliability.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074920" cy="150876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675887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7171"/>
                </a:solidFill>
                <a:latin typeface="Aptos"/>
              </a:rPr>
              <a:t>No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33087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Traditional file operations provide little user-facing audit information.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32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Aptos"/>
              </a:rPr>
              <a:t>Core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5321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EF4FC"/>
                </a:solidFill>
                <a:latin typeface="Aptos"/>
              </a:rPr>
              <a:t>How can multiple clients safely share one file without silent overwrites?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Design goals of the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520440" cy="16916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373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Aptos"/>
              </a:rPr>
              <a:t>Safe concurrent 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21284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Allow multiple readers to access a shared file concurrently.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520440" cy="16916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7373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Aptos"/>
              </a:rPr>
              <a:t>Exclusive writes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21284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Allow only one conflicting writer at a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54480"/>
            <a:ext cx="3520440" cy="16916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7373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Aptos"/>
              </a:rPr>
              <a:t>Conflict prevention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21284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Reject stale updates using file-version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3520440" cy="16916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7947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Atomic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27024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Write to a temporary file and replace the original atomically.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611880"/>
            <a:ext cx="3520440" cy="16916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37947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ACC15"/>
                </a:solidFill>
                <a:latin typeface="Aptos"/>
              </a:rPr>
              <a:t>Auditability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427024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Record operations, status and versions in SQLite.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611880"/>
            <a:ext cx="3520440" cy="16916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37947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Aptos"/>
              </a:rPr>
              <a:t>Live demonstration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4270248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Visualize behavior through a browser dashboard and process simulator.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Existing Approach vs Proposed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Why SyncLock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54864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57800" cy="54864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Aptos"/>
              </a:rPr>
              <a:t>Typical / unsynchronized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6420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Aptos"/>
              </a:rPr>
              <a:t>SyncLock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EF4FC"/>
                </a:solidFill>
                <a:latin typeface="Aptos"/>
              </a:rPr>
              <a:t>• Direct file writes can 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1284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EF4FC"/>
                </a:solidFill>
                <a:latin typeface="Aptos"/>
              </a:rPr>
              <a:t>• Shared and exclusive OS-level 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EF4FC"/>
                </a:solidFill>
                <a:latin typeface="Aptos"/>
              </a:rPr>
              <a:t>• No optimistic version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EF4FC"/>
                </a:solidFill>
                <a:latin typeface="Aptos"/>
              </a:rPr>
              <a:t>• Version checked before every 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393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EF4FC"/>
                </a:solidFill>
                <a:latin typeface="Aptos"/>
              </a:rPr>
              <a:t>• Limited visibility into conflicts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3931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EF4FC"/>
                </a:solidFill>
                <a:latin typeface="Aptos"/>
              </a:rPr>
              <a:t>• Conflict status shown in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5254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EF4FC"/>
                </a:solidFill>
                <a:latin typeface="Aptos"/>
              </a:rPr>
              <a:t>• Manual recovery from stale 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52544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EF4FC"/>
                </a:solidFill>
                <a:latin typeface="Aptos"/>
              </a:rPr>
              <a:t>• Atomic replacement reduces partial writes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657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EF4FC"/>
                </a:solidFill>
                <a:latin typeface="Aptos"/>
              </a:rPr>
              <a:t>• Little centralized activity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65776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EEF4FC"/>
                </a:solidFill>
                <a:latin typeface="Aptos"/>
              </a:rPr>
              <a:t>• SQLite activity log + live statistics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Browser → API → locking →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148840" cy="91440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468880"/>
            <a:ext cx="19293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B82F6"/>
                </a:solidFill>
                <a:latin typeface="Aptos"/>
              </a:rPr>
              <a:t>Browser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240280"/>
            <a:ext cx="1965960" cy="91440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2468880"/>
            <a:ext cx="17465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DD4BF"/>
                </a:solidFill>
                <a:latin typeface="Aptos"/>
              </a:rPr>
              <a:t>FastAPI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600200"/>
            <a:ext cx="2240280" cy="91440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4728" y="1828800"/>
            <a:ext cx="20208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2C55E"/>
                </a:solidFill>
                <a:latin typeface="Aptos"/>
              </a:rPr>
              <a:t>File Lock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143000"/>
            <a:ext cx="2011680" cy="91440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9367" y="1371600"/>
            <a:ext cx="17922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ACC15"/>
                </a:solidFill>
                <a:latin typeface="Aptos"/>
              </a:rPr>
              <a:t>Shared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743200"/>
            <a:ext cx="2011680" cy="91440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7" y="2971800"/>
            <a:ext cx="17922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7171"/>
                </a:solidFill>
                <a:latin typeface="Aptos"/>
              </a:rPr>
              <a:t>SQLite
Metadata + Logs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2697480"/>
            <a:ext cx="4572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212080" y="2148840"/>
            <a:ext cx="502920" cy="54864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955279" y="1600200"/>
            <a:ext cx="594361" cy="45720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55279" y="2514600"/>
            <a:ext cx="594361" cy="6400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70916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0B2CC"/>
                </a:solidFill>
                <a:latin typeface="Aptos"/>
              </a:rPr>
              <a:t>Concurrency control happens before file mutation; metadata and activity are persisted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Core Concurrency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The technical heart of SyncLock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89920" cy="896112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Aptos"/>
              </a:rPr>
              <a:t>1  Shared Read 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45919"/>
            <a:ext cx="7269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Multiple readers may read the same file without conflicting with one another.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24328"/>
            <a:ext cx="10789920" cy="896112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Aptos"/>
              </a:rPr>
              <a:t>2  Exclusive Write 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61488"/>
            <a:ext cx="7269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A writer obtains an exclusive OS-level lock so conflicting writes are serialized.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39896"/>
            <a:ext cx="10789920" cy="896112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04487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Aptos"/>
              </a:rPr>
              <a:t>3  Version Checking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877056"/>
            <a:ext cx="7269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A client sends the version it originally read; a mismatch blocks the stale write.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55464"/>
            <a:ext cx="10789920" cy="896112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20056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4  Atomic Replacement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992624"/>
            <a:ext cx="7269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New content is written to a temporary file, then replaced into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897880"/>
            <a:ext cx="118872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CLIENT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593445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B2CC"/>
                </a:solidFill>
                <a:latin typeface="Aptos"/>
              </a:rPr>
              <a:t>reads V2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6120" y="6080760"/>
            <a:ext cx="59436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86200" y="5897880"/>
            <a:ext cx="118872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594360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CLIENT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93445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B2CC"/>
                </a:solidFill>
                <a:latin typeface="Aptos"/>
              </a:rPr>
              <a:t>writes V3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0" y="6080760"/>
            <a:ext cx="59436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0" y="5897880"/>
            <a:ext cx="1188720" cy="347472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594360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CLIENT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934456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0B2CC"/>
                </a:solidFill>
                <a:latin typeface="Aptos"/>
              </a:rPr>
              <a:t>stale V2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0" y="6080760"/>
            <a:ext cx="59436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84080" y="5897880"/>
            <a:ext cx="1371600" cy="347472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59436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How the application is organized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166360" cy="12344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Aptos"/>
              </a:rPr>
              <a:t>Web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EEF4FC"/>
                </a:solidFill>
                <a:latin typeface="Aptos"/>
              </a:rPr>
              <a:t>Create, select, edit, reload and delete shared files; view live statistics.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166360" cy="12344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73351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FastAPI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075688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EEF4FC"/>
                </a:solidFill>
                <a:latin typeface="Aptos"/>
              </a:rPr>
              <a:t>Exposes API endpoints for files, reads, writes, versions and activity.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17520"/>
            <a:ext cx="5166360" cy="12344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182112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Aptos"/>
              </a:rPr>
              <a:t>File Lock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584448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EEF4FC"/>
                </a:solidFill>
                <a:latin typeface="Aptos"/>
              </a:rPr>
              <a:t>Implements shared/exclusive OS-level locking and controlled release.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166360" cy="12344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182112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  <a:latin typeface="Aptos"/>
              </a:rPr>
              <a:t>Version &amp; Conflict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584448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EEF4FC"/>
                </a:solidFill>
                <a:latin typeface="Aptos"/>
              </a:rPr>
              <a:t>Checks expected version against current version before committing writes.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26279"/>
            <a:ext cx="5166360" cy="12344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690871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ACC15"/>
                </a:solidFill>
                <a:latin typeface="Aptos"/>
              </a:rPr>
              <a:t>SQLite Activity Logger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093207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EEF4FC"/>
                </a:solidFill>
                <a:latin typeface="Aptos"/>
              </a:rPr>
              <a:t>Stores file metadata, versions, operation history and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26279"/>
            <a:ext cx="5166360" cy="123444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690871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Aptos"/>
              </a:rPr>
              <a:t>Multi-Process Simulator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5093207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EEF4FC"/>
                </a:solidFill>
                <a:latin typeface="Aptos"/>
              </a:rPr>
              <a:t>Launches five independent processes to demonstrate write contention.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Lightweight, cross-platform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160020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B82F6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0B2CC"/>
                </a:solidFill>
                <a:latin typeface="Aptos"/>
              </a:rPr>
              <a:t>Application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429000" cy="160020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D4BF"/>
                </a:solidFill>
                <a:latin typeface="Aptos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44144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0B2CC"/>
                </a:solidFill>
                <a:latin typeface="Aptos"/>
              </a:rPr>
              <a:t>Web/API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00200"/>
            <a:ext cx="3429000" cy="160020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82880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2C55E"/>
                </a:solidFill>
                <a:latin typeface="Aptos"/>
              </a:rPr>
              <a:t>Portalocker / OS file 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44144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0B2CC"/>
                </a:solidFill>
                <a:latin typeface="Aptos"/>
              </a:rPr>
              <a:t>Concurrency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3429000" cy="160020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84048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ACC15"/>
                </a:solidFill>
                <a:latin typeface="Aptos"/>
              </a:rPr>
              <a:t>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5312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0B2CC"/>
                </a:solidFill>
                <a:latin typeface="Aptos"/>
              </a:rPr>
              <a:t>Metadata + activity logging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611880"/>
            <a:ext cx="3429000" cy="160020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84048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B82F6"/>
                </a:solidFill>
                <a:latin typeface="Aptos"/>
              </a:rPr>
              <a:t>HTML / CSS / JavaScript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45312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0B2CC"/>
                </a:solidFill>
                <a:latin typeface="Aptos"/>
              </a:rPr>
              <a:t>Interactive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611880"/>
            <a:ext cx="3429000" cy="160020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384048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7171"/>
                </a:solidFill>
                <a:latin typeface="Aptos"/>
              </a:rPr>
              <a:t>Atomic file replacement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53128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0B2CC"/>
                </a:solidFill>
                <a:latin typeface="Aptos"/>
              </a:rPr>
              <a:t>Safe 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0B2CC"/>
                </a:solidFill>
                <a:latin typeface="Aptos"/>
              </a:rPr>
              <a:t>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71500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Windows / Linux / macOS  •  Python 3.9+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Implementation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From user action to safe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417320" cy="123444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313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EEF4FC"/>
                </a:solidFill>
                <a:latin typeface="Aptos"/>
              </a:rPr>
              <a:t>Select / create file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761488"/>
            <a:ext cx="2286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67128" y="2148840"/>
            <a:ext cx="1417320" cy="123444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6856" y="2313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2697480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EEF4FC"/>
                </a:solidFill>
                <a:latin typeface="Aptos"/>
              </a:rPr>
              <a:t>Read using shared lock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4448" y="2761488"/>
            <a:ext cx="2286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31336" y="2148840"/>
            <a:ext cx="1417320" cy="123444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1064" y="2313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2697480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EEF4FC"/>
                </a:solidFill>
                <a:latin typeface="Aptos"/>
              </a:rPr>
              <a:t>Edit locally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48656" y="2761488"/>
            <a:ext cx="2286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95544" y="2148840"/>
            <a:ext cx="1417320" cy="123444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272" y="2313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6983" y="2697480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EEF4FC"/>
                </a:solidFill>
                <a:latin typeface="Aptos"/>
              </a:rPr>
              <a:t>Request exclusive write lock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12864" y="2761488"/>
            <a:ext cx="2286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59752" y="2148840"/>
            <a:ext cx="1417320" cy="123444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313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2697480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EEF4FC"/>
                </a:solidFill>
                <a:latin typeface="Aptos"/>
              </a:rPr>
              <a:t>Check expected version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77072" y="2761488"/>
            <a:ext cx="2286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823960" y="2148840"/>
            <a:ext cx="1417320" cy="123444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2313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697480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EEF4FC"/>
                </a:solidFill>
                <a:latin typeface="Aptos"/>
              </a:rPr>
              <a:t>Atomic write + version increment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41280" y="2761488"/>
            <a:ext cx="22860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488168" y="2148840"/>
            <a:ext cx="1417320" cy="123444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97896" y="2313432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9608" y="2697480"/>
            <a:ext cx="1234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EEF4FC"/>
                </a:solidFill>
                <a:latin typeface="Aptos"/>
              </a:rPr>
              <a:t>Release lock + log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160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Aptos"/>
              </a:rPr>
              <a:t>Failure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133087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EF4FC"/>
                </a:solidFill>
                <a:latin typeface="Aptos"/>
              </a:rPr>
              <a:t>Lock unavailable → operation blocked/logged.   |   Version mismatch → stale update rejected/logged.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578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2C55E"/>
                </a:solidFill>
                <a:latin typeface="Aptos"/>
              </a:rPr>
              <a:t>Result: the shared file remains internally consistent while every important event is traceable.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Web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Live visual interface for the concurrency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(20261017-05022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7366"/>
            <a:ext cx="7543800" cy="42433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66760" y="1508760"/>
            <a:ext cx="3154680" cy="452628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78308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B82F6"/>
                </a:solidFill>
                <a:latin typeface="Aptos"/>
              </a:rPr>
              <a:t>Dashboard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331720"/>
            <a:ext cx="25146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EF4FC"/>
                </a:solidFill>
                <a:latin typeface="Aptos"/>
              </a:defRPr>
            </a:pPr>
            <a:r>
              <a:t>• Shared file count</a:t>
            </a:r>
          </a:p>
          <a:p>
            <a:pPr>
              <a:spcAft>
                <a:spcPts val="700"/>
              </a:spcAft>
              <a:defRPr sz="1300" b="0">
                <a:solidFill>
                  <a:srgbClr val="EEF4FC"/>
                </a:solidFill>
                <a:latin typeface="Aptos"/>
              </a:defRPr>
            </a:pPr>
            <a:r>
              <a:t>• Operation count</a:t>
            </a:r>
          </a:p>
          <a:p>
            <a:pPr>
              <a:spcAft>
                <a:spcPts val="700"/>
              </a:spcAft>
              <a:defRPr sz="1300" b="0">
                <a:solidFill>
                  <a:srgbClr val="EEF4FC"/>
                </a:solidFill>
                <a:latin typeface="Aptos"/>
              </a:defRPr>
            </a:pPr>
            <a:r>
              <a:t>• Conflicts blocked</a:t>
            </a:r>
          </a:p>
          <a:p>
            <a:pPr>
              <a:spcAft>
                <a:spcPts val="700"/>
              </a:spcAft>
              <a:defRPr sz="1300" b="0">
                <a:solidFill>
                  <a:srgbClr val="EEF4FC"/>
                </a:solidFill>
                <a:latin typeface="Aptos"/>
              </a:defRPr>
            </a:pPr>
            <a:r>
              <a:t>• Successful writes</a:t>
            </a:r>
          </a:p>
          <a:p>
            <a:pPr>
              <a:spcAft>
                <a:spcPts val="700"/>
              </a:spcAft>
              <a:defRPr sz="1300" b="0">
                <a:solidFill>
                  <a:srgbClr val="EEF4FC"/>
                </a:solidFill>
                <a:latin typeface="Aptos"/>
              </a:defRPr>
            </a:pPr>
            <a:r>
              <a:t>• File versions and size</a:t>
            </a:r>
          </a:p>
          <a:p>
            <a:pPr>
              <a:spcAft>
                <a:spcPts val="700"/>
              </a:spcAft>
              <a:defRPr sz="1300" b="0">
                <a:solidFill>
                  <a:srgbClr val="EEF4FC"/>
                </a:solidFill>
                <a:latin typeface="Aptos"/>
              </a:defRPr>
            </a:pPr>
            <a:r>
              <a:t>• Create / delete controls</a:t>
            </a:r>
          </a:p>
          <a:p>
            <a:pPr>
              <a:spcAft>
                <a:spcPts val="700"/>
              </a:spcAft>
              <a:defRPr sz="1300" b="0">
                <a:solidFill>
                  <a:srgbClr val="EEF4FC"/>
                </a:solidFill>
                <a:latin typeface="Aptos"/>
              </a:defRPr>
            </a:pPr>
            <a:r>
              <a:t>• Reload and Save actions</a:t>
            </a:r>
          </a:p>
          <a:p>
            <a:pPr>
              <a:spcAft>
                <a:spcPts val="700"/>
              </a:spcAft>
              <a:defRPr sz="1300" b="0">
                <a:solidFill>
                  <a:srgbClr val="EEF4FC"/>
                </a:solidFill>
                <a:latin typeface="Aptos"/>
              </a:defRPr>
            </a:pPr>
            <a:r>
              <a:t>• Activity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5577840"/>
            <a:ext cx="2651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A0B2CC"/>
                </a:solidFill>
                <a:latin typeface="Aptos"/>
              </a:rPr>
              <a:t>The UI turns an OS-level concurrency concept into something judges can observe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Live Demo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Two clients, one shared file, one stale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486400" cy="452628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Aptos"/>
              </a:rPr>
              <a:t>Step-by-step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0280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1. Open shared.txt in Client A and Client 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07208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2. Both clients initially read Version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74136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3. Client A edits and saves → Version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41064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4. Client B still holds stale Version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507992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5. Client B attempts to save its old version.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074920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EF4FC"/>
                </a:solidFill>
                <a:latin typeface="Aptos"/>
              </a:rPr>
              <a:t>6. SyncLock detects mismatch and blocks the overwrite.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5166360" cy="452628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12280" y="1828800"/>
            <a:ext cx="128016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874519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CLIENT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677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0B2CC"/>
                </a:solidFill>
                <a:latin typeface="Aptos"/>
              </a:rPr>
              <a:t>Version 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83879" y="2395728"/>
            <a:ext cx="640081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15400" y="1828800"/>
            <a:ext cx="91440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874519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26771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C55E"/>
                </a:solidFill>
                <a:latin typeface="Aptos"/>
              </a:rPr>
              <a:t>→ Version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3246120"/>
            <a:ext cx="1280160" cy="347472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291839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CLIENT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6850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0B2CC"/>
                </a:solidFill>
                <a:latin typeface="Aptos"/>
              </a:rPr>
              <a:t>stale Version 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21040" y="3822191"/>
            <a:ext cx="502920" cy="0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887968" y="3246120"/>
            <a:ext cx="1234440" cy="347472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3291839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CONFLICT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343400"/>
            <a:ext cx="4206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EF4FC"/>
                </a:solidFill>
                <a:latin typeface="Aptos"/>
              </a:rPr>
              <a:t>Expected: V2
Current: V3
WRITE BLOCKED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Multi-Process Concurrency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Five independent processes contend for one write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48056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Aptos"/>
              </a:rPr>
              <a:t>python simulator.py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137160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39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Process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7743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B2CC"/>
                </a:solidFill>
                <a:latin typeface="Aptos"/>
              </a:rPr>
              <a:t>PID 4210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682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→ requests EXCLUSIVE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68296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→ waits / acquires → writes → releases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26079"/>
            <a:ext cx="137160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71799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Process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97179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B2CC"/>
                </a:solidFill>
                <a:latin typeface="Aptos"/>
              </a:rPr>
              <a:t>PID 4211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96265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→ requests EXCLUSIVE 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962656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→ waits / acquires → writes → releases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20439"/>
            <a:ext cx="1371600" cy="347472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66159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Process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56615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B2CC"/>
                </a:solidFill>
                <a:latin typeface="Aptos"/>
              </a:rPr>
              <a:t>PID 4212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557015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→ requests EXCLUSIVE 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57015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→ waits / acquires → writes → releases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14800"/>
            <a:ext cx="1371600" cy="34747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Process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1605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B2CC"/>
                </a:solidFill>
                <a:latin typeface="Aptos"/>
              </a:rPr>
              <a:t>PID 4213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15137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→ requests EXCLUSIVE 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151376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→ waits / acquires → writes → releases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709160"/>
            <a:ext cx="1371600" cy="347472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Process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4754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0B2CC"/>
                </a:solidFill>
                <a:latin typeface="Aptos"/>
              </a:rPr>
              <a:t>PID 4214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74573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→ requests EXCLUSIVE 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745736"/>
            <a:ext cx="3931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EF4FC"/>
                </a:solidFill>
                <a:latin typeface="Aptos"/>
              </a:rPr>
              <a:t>→ waits / acquires → writes → releases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2C55E"/>
                </a:solidFill>
                <a:latin typeface="Aptos"/>
              </a:rPr>
              <a:t>Only one conflicting writer enters the critical section at a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Applications &amp;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Where the concept can be extended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166360" cy="452628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Aptos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5262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EF4FC"/>
                </a:solidFill>
                <a:latin typeface="Aptos"/>
              </a:defRPr>
            </a:pPr>
            <a:r>
              <a:t>• Collaborative document editing</a:t>
            </a:r>
          </a:p>
          <a:p>
            <a:pPr>
              <a:spcAft>
                <a:spcPts val="1000"/>
              </a:spcAft>
              <a:defRPr sz="1400" b="0">
                <a:solidFill>
                  <a:srgbClr val="EEF4FC"/>
                </a:solidFill>
                <a:latin typeface="Aptos"/>
              </a:defRPr>
            </a:pPr>
            <a:r>
              <a:t>• Shared configuration files</a:t>
            </a:r>
          </a:p>
          <a:p>
            <a:pPr>
              <a:spcAft>
                <a:spcPts val="1000"/>
              </a:spcAft>
              <a:defRPr sz="1400" b="0">
                <a:solidFill>
                  <a:srgbClr val="EEF4FC"/>
                </a:solidFill>
                <a:latin typeface="Aptos"/>
              </a:defRPr>
            </a:pPr>
            <a:r>
              <a:t>• Server-side logs and reports</a:t>
            </a:r>
          </a:p>
          <a:p>
            <a:pPr>
              <a:spcAft>
                <a:spcPts val="1000"/>
              </a:spcAft>
              <a:defRPr sz="1400" b="0">
                <a:solidFill>
                  <a:srgbClr val="EEF4FC"/>
                </a:solidFill>
                <a:latin typeface="Aptos"/>
              </a:defRPr>
            </a:pPr>
            <a:r>
              <a:t>• Data-processing pipelines</a:t>
            </a:r>
          </a:p>
          <a:p>
            <a:pPr>
              <a:spcAft>
                <a:spcPts val="1000"/>
              </a:spcAft>
              <a:defRPr sz="1400" b="0">
                <a:solidFill>
                  <a:srgbClr val="EEF4FC"/>
                </a:solidFill>
                <a:latin typeface="Aptos"/>
              </a:defRPr>
            </a:pPr>
            <a:r>
              <a:t>• OS / concurrency education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166360" cy="452628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Aptos"/>
              </a:rPr>
              <a:t>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423160"/>
            <a:ext cx="45262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EEF4FC"/>
                </a:solidFill>
                <a:latin typeface="Aptos"/>
              </a:defRPr>
            </a:pPr>
            <a:r>
              <a:t>• Prevents silent overwrites</a:t>
            </a:r>
          </a:p>
          <a:p>
            <a:pPr>
              <a:spcAft>
                <a:spcPts val="1000"/>
              </a:spcAft>
              <a:defRPr sz="1400" b="0">
                <a:solidFill>
                  <a:srgbClr val="EEF4FC"/>
                </a:solidFill>
                <a:latin typeface="Aptos"/>
              </a:defRPr>
            </a:pPr>
            <a:r>
              <a:t>• Clear version history</a:t>
            </a:r>
          </a:p>
          <a:p>
            <a:pPr>
              <a:spcAft>
                <a:spcPts val="1000"/>
              </a:spcAft>
              <a:defRPr sz="1400" b="0">
                <a:solidFill>
                  <a:srgbClr val="EEF4FC"/>
                </a:solidFill>
                <a:latin typeface="Aptos"/>
              </a:defRPr>
            </a:pPr>
            <a:r>
              <a:t>• Auditable activity log</a:t>
            </a:r>
          </a:p>
          <a:p>
            <a:pPr>
              <a:spcAft>
                <a:spcPts val="1000"/>
              </a:spcAft>
              <a:defRPr sz="1400" b="0">
                <a:solidFill>
                  <a:srgbClr val="EEF4FC"/>
                </a:solidFill>
                <a:latin typeface="Aptos"/>
              </a:defRPr>
            </a:pPr>
            <a:r>
              <a:t>• Real-time dashboard</a:t>
            </a:r>
          </a:p>
          <a:p>
            <a:pPr>
              <a:spcAft>
                <a:spcPts val="1000"/>
              </a:spcAft>
              <a:defRPr sz="1400" b="0">
                <a:solidFill>
                  <a:srgbClr val="EEF4FC"/>
                </a:solidFill>
                <a:latin typeface="Aptos"/>
              </a:defRPr>
            </a:pPr>
            <a:r>
              <a:t>• Lightweight and easy to demonstrate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ACC15"/>
                </a:solidFill>
                <a:latin typeface="Aptos"/>
              </a:rPr>
              <a:t>Key value: synchronization becomes visible, testable and explainable.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EF4FC"/>
                </a:solidFill>
                <a:latin typeface="Aptos"/>
              </a:rPr>
              <a:t>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B2CC"/>
                </a:solidFill>
                <a:latin typeface="Aptos"/>
              </a:rPr>
              <a:t>Prototype today, scalable platform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20624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0B2CC"/>
                </a:solidFill>
                <a:latin typeface="Aptos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61872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87171"/>
                </a:solidFill>
                <a:latin typeface="Aptos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Designed as a single-machine prototype</a:t>
            </a:r>
          </a:p>
          <a:p>
            <a:pPr>
              <a:spcAft>
                <a:spcPts val="9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Local filesystem locking is not a distributed lock</a:t>
            </a:r>
          </a:p>
          <a:p>
            <a:pPr>
              <a:spcAft>
                <a:spcPts val="9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Authentication / authorization is not included</a:t>
            </a:r>
          </a:p>
          <a:p>
            <a:pPr>
              <a:spcAft>
                <a:spcPts val="9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Conflict resolution is reject-and-retry rather than automatic merge</a:t>
            </a:r>
          </a:p>
          <a:p>
            <a:pPr>
              <a:spcAft>
                <a:spcPts val="9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Dashboard is intended for demonstration and controlled environments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2C55E"/>
                </a:solidFill>
                <a:latin typeface="Apto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Distributed locks for multi-server deployments</a:t>
            </a:r>
          </a:p>
          <a:p>
            <a:pPr>
              <a:spcAft>
                <a:spcPts val="8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Role-based authentication and authorization</a:t>
            </a:r>
          </a:p>
          <a:p>
            <a:pPr>
              <a:spcAft>
                <a:spcPts val="8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Automatic merge / collaborative editing</a:t>
            </a:r>
          </a:p>
          <a:p>
            <a:pPr>
              <a:spcAft>
                <a:spcPts val="8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WebSocket-based live activity streaming</a:t>
            </a:r>
          </a:p>
          <a:p>
            <a:pPr>
              <a:spcAft>
                <a:spcPts val="8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Cloud object storage and version history</a:t>
            </a:r>
          </a:p>
          <a:p>
            <a:pPr>
              <a:spcAft>
                <a:spcPts val="800"/>
              </a:spcAft>
              <a:defRPr sz="1350" b="0">
                <a:solidFill>
                  <a:srgbClr val="EEF4FC"/>
                </a:solidFill>
                <a:latin typeface="Aptos"/>
              </a:defRPr>
            </a:pPr>
            <a:r>
              <a:t>• Containerized deployment and observability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EEF4FC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28016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DD4BF"/>
                </a:solidFill>
                <a:latin typeface="Aptos"/>
              </a:rPr>
              <a:t>SyncLock demonstrates how operating-system synchronization can protect shared data in a practical web application.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48840"/>
            <a:ext cx="6492240" cy="2423160"/>
          </a:xfrm>
          <a:prstGeom prst="roundRect">
            <a:avLst/>
          </a:prstGeom>
          <a:solidFill>
            <a:srgbClr val="1D2B41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5852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EEF4FC"/>
                </a:solidFill>
                <a:latin typeface="Aptos"/>
              </a:defRPr>
            </a:pPr>
            <a:r>
              <a:t>• Multiple readers can safely read a shared file.</a:t>
            </a:r>
          </a:p>
          <a:p>
            <a:pPr>
              <a:spcAft>
                <a:spcPts val="800"/>
              </a:spcAft>
              <a:defRPr sz="1500" b="0">
                <a:solidFill>
                  <a:srgbClr val="EEF4FC"/>
                </a:solidFill>
                <a:latin typeface="Aptos"/>
              </a:defRPr>
            </a:pPr>
            <a:r>
              <a:t>• Conflicting writers are serialized through exclusive locking.</a:t>
            </a:r>
          </a:p>
          <a:p>
            <a:pPr>
              <a:spcAft>
                <a:spcPts val="800"/>
              </a:spcAft>
              <a:defRPr sz="1500" b="0">
                <a:solidFill>
                  <a:srgbClr val="EEF4FC"/>
                </a:solidFill>
                <a:latin typeface="Aptos"/>
              </a:defRPr>
            </a:pPr>
            <a:r>
              <a:t>• Version checks prevent stale clients from overwriting newer data.</a:t>
            </a:r>
          </a:p>
          <a:p>
            <a:pPr>
              <a:spcAft>
                <a:spcPts val="800"/>
              </a:spcAft>
              <a:defRPr sz="1500" b="0">
                <a:solidFill>
                  <a:srgbClr val="EEF4FC"/>
                </a:solidFill>
                <a:latin typeface="Aptos"/>
              </a:defRPr>
            </a:pPr>
            <a:r>
              <a:t>• Atomic replacement reduces partial-write risk.</a:t>
            </a:r>
          </a:p>
          <a:p>
            <a:pPr>
              <a:spcAft>
                <a:spcPts val="800"/>
              </a:spcAft>
              <a:defRPr sz="1500" b="0">
                <a:solidFill>
                  <a:srgbClr val="EEF4FC"/>
                </a:solidFill>
                <a:latin typeface="Aptos"/>
              </a:defRPr>
            </a:pPr>
            <a:r>
              <a:t>• SQLite activity logging makes the behavior auditable.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2148840"/>
            <a:ext cx="3794760" cy="2423160"/>
          </a:xfrm>
          <a:prstGeom prst="roundRect">
            <a:avLst/>
          </a:prstGeom>
          <a:solidFill>
            <a:srgbClr val="152237"/>
          </a:solidFill>
          <a:ln w="10160"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4688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ACC15"/>
                </a:solidFill>
                <a:latin typeface="Aptos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971800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 b="0">
                <a:solidFill>
                  <a:srgbClr val="A0B2CC"/>
                </a:solidFill>
                <a:latin typeface="Aptos"/>
              </a:defRPr>
            </a:pPr>
            <a:r>
              <a:t>• Operating System Concepts — Silberschatz, Galvin &amp; Gagne</a:t>
            </a:r>
          </a:p>
          <a:p>
            <a:pPr>
              <a:spcAft>
                <a:spcPts val="600"/>
              </a:spcAft>
              <a:defRPr sz="1150" b="0">
                <a:solidFill>
                  <a:srgbClr val="A0B2CC"/>
                </a:solidFill>
                <a:latin typeface="Aptos"/>
              </a:defRPr>
            </a:pPr>
            <a:r>
              <a:t>• Python / FastAPI documentation</a:t>
            </a:r>
          </a:p>
          <a:p>
            <a:pPr>
              <a:spcAft>
                <a:spcPts val="600"/>
              </a:spcAft>
              <a:defRPr sz="1150" b="0">
                <a:solidFill>
                  <a:srgbClr val="A0B2CC"/>
                </a:solidFill>
                <a:latin typeface="Aptos"/>
              </a:defRPr>
            </a:pPr>
            <a:r>
              <a:t>• Portalocker documentation</a:t>
            </a:r>
          </a:p>
          <a:p>
            <a:pPr>
              <a:spcAft>
                <a:spcPts val="600"/>
              </a:spcAft>
              <a:defRPr sz="1150" b="0">
                <a:solidFill>
                  <a:srgbClr val="A0B2CC"/>
                </a:solidFill>
                <a:latin typeface="Aptos"/>
              </a:defRPr>
            </a:pPr>
            <a:r>
              <a:t>• SQLite documentation</a:t>
            </a:r>
          </a:p>
          <a:p>
            <a:pPr>
              <a:spcAft>
                <a:spcPts val="600"/>
              </a:spcAft>
              <a:defRPr sz="1150" b="0">
                <a:solidFill>
                  <a:srgbClr val="A0B2CC"/>
                </a:solidFill>
                <a:latin typeface="Aptos"/>
              </a:defRPr>
            </a:pPr>
            <a:r>
              <a:t>• Linux / Windows file-locking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EF4FC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715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0B2CC"/>
                </a:solidFill>
                <a:latin typeface="Aptos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53212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A0B2CC"/>
                </a:solidFill>
                <a:latin typeface="Aptos"/>
              </a:rPr>
              <a:t>P.Likith Kumar  •  P.Rithwik Rao  •  V.Santhosh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0B2CC"/>
                </a:solidFill>
                <a:latin typeface="Aptos"/>
              </a:rPr>
              <a:t>SyncLock • Concurrent File Access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0B2CC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